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7" d="100"/>
          <a:sy n="77" d="100"/>
        </p:scale>
        <p:origin x="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C7C5-789F-4D37-ABFC-398BFCDE3C7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DBF28-9489-4277-8099-73465B0EE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216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C7C5-789F-4D37-ABFC-398BFCDE3C7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DBF28-9489-4277-8099-73465B0EE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372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C7C5-789F-4D37-ABFC-398BFCDE3C7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DBF28-9489-4277-8099-73465B0EE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215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C7C5-789F-4D37-ABFC-398BFCDE3C7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DBF28-9489-4277-8099-73465B0EE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906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C7C5-789F-4D37-ABFC-398BFCDE3C7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DBF28-9489-4277-8099-73465B0EE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196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C7C5-789F-4D37-ABFC-398BFCDE3C7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DBF28-9489-4277-8099-73465B0EE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108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C7C5-789F-4D37-ABFC-398BFCDE3C7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DBF28-9489-4277-8099-73465B0EE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969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C7C5-789F-4D37-ABFC-398BFCDE3C7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DBF28-9489-4277-8099-73465B0EE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097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C7C5-789F-4D37-ABFC-398BFCDE3C7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DBF28-9489-4277-8099-73465B0EE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353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C7C5-789F-4D37-ABFC-398BFCDE3C7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DBF28-9489-4277-8099-73465B0EE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073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C7C5-789F-4D37-ABFC-398BFCDE3C7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DBF28-9489-4277-8099-73465B0EE9E0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58691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C7C5-789F-4D37-ABFC-398BFCDE3C7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DBF28-9489-4277-8099-73465B0EE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869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C7C5-789F-4D37-ABFC-398BFCDE3C7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DBF28-9489-4277-8099-73465B0EE9E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33198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C7C5-789F-4D37-ABFC-398BFCDE3C7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DBF28-9489-4277-8099-73465B0EE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7203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C7C5-789F-4D37-ABFC-398BFCDE3C7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DBF28-9489-4277-8099-73465B0EE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3484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C7C5-789F-4D37-ABFC-398BFCDE3C7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DBF28-9489-4277-8099-73465B0EE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144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BC7C5-789F-4D37-ABFC-398BFCDE3C7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A0DBF28-9489-4277-8099-73465B0EE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045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effectLst/>
              </a:rPr>
              <a:t>Market Basket Analysis &amp; Product Bundling Recommendations </a:t>
            </a:r>
            <a:endParaRPr lang="en-US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effectLst/>
              </a:rPr>
              <a:t>Increasing Average Order Value in E-commerce</a:t>
            </a:r>
            <a:br>
              <a:rPr lang="en-US" dirty="0" smtClean="0">
                <a:effectLst/>
              </a:rPr>
            </a:br>
            <a:r>
              <a:rPr lang="en-US" dirty="0" smtClean="0">
                <a:effectLst/>
              </a:rPr>
              <a:t/>
            </a:r>
            <a:br>
              <a:rPr lang="en-US" dirty="0" smtClean="0">
                <a:effectLst/>
              </a:rPr>
            </a:br>
            <a:r>
              <a:rPr lang="en-US" dirty="0" smtClean="0">
                <a:effectLst/>
              </a:rPr>
              <a:t/>
            </a:r>
            <a:br>
              <a:rPr lang="en-US" dirty="0" smtClean="0">
                <a:effectLst/>
              </a:rPr>
            </a:br>
            <a:r>
              <a:rPr lang="en-US" dirty="0" smtClean="0">
                <a:effectLst/>
              </a:rPr>
              <a:t>By Olawale Arowojolu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2480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20775"/>
          </a:xfrm>
        </p:spPr>
        <p:txBody>
          <a:bodyPr>
            <a:normAutofit fontScale="90000"/>
          </a:bodyPr>
          <a:lstStyle/>
          <a:p>
            <a:r>
              <a:rPr lang="en-US" sz="5400" dirty="0" smtClean="0">
                <a:effectLst/>
              </a:rPr>
              <a:t/>
            </a:r>
            <a:br>
              <a:rPr lang="en-US" sz="5400" dirty="0" smtClean="0">
                <a:effectLst/>
              </a:rPr>
            </a:br>
            <a:r>
              <a:rPr lang="en-US" sz="5400" dirty="0" smtClean="0">
                <a:effectLst/>
              </a:rPr>
              <a:t>Business Problem</a:t>
            </a:r>
            <a:r>
              <a:rPr lang="en-US" dirty="0" smtClean="0">
                <a:effectLst/>
              </a:rPr>
              <a:t/>
            </a:r>
            <a:br>
              <a:rPr lang="en-US" dirty="0" smtClean="0">
                <a:effectLst/>
              </a:rPr>
            </a:br>
            <a:r>
              <a:rPr lang="en-US" sz="4000" dirty="0" smtClean="0">
                <a:effectLst/>
              </a:rPr>
              <a:t>Why We Need This Analysis</a:t>
            </a:r>
            <a:r>
              <a:rPr lang="en-US" dirty="0" smtClean="0">
                <a:effectLst/>
              </a:rPr>
              <a:t/>
            </a:r>
            <a:br>
              <a:rPr lang="en-US" dirty="0" smtClean="0">
                <a:effectLst/>
              </a:rPr>
            </a:br>
            <a:endParaRPr lang="en-US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988340"/>
            <a:ext cx="1015855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Profit margin only 3%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Cannot lower prices to compete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to make each customer buy MORE items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sz="32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should we suggest next to increase order value? </a:t>
            </a:r>
          </a:p>
        </p:txBody>
      </p:sp>
    </p:spTree>
    <p:extLst>
      <p:ext uri="{BB962C8B-B14F-4D97-AF65-F5344CB8AC3E}">
        <p14:creationId xmlns:p14="http://schemas.microsoft.com/office/powerpoint/2010/main" val="3383183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 smtClean="0">
                <a:effectLst/>
              </a:rPr>
              <a:t>Simple Data Preparation</a:t>
            </a:r>
            <a:endParaRPr lang="en-US" sz="5400" b="1" dirty="0">
              <a:effectLst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846859"/>
            <a:ext cx="8602980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public Online Retail dataset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 customer purchases (UK store)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Steps in Excel: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returns &amp; cancellations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Kept only UK orders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Selected top 50 popular products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Made simple table: 1 = bought, 0 = not bought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7579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45185"/>
            <a:ext cx="10515600" cy="1325563"/>
          </a:xfrm>
        </p:spPr>
        <p:txBody>
          <a:bodyPr/>
          <a:lstStyle/>
          <a:p>
            <a:r>
              <a:rPr lang="en-US" b="1" dirty="0" smtClean="0">
                <a:effectLst/>
              </a:rPr>
              <a:t>How I Found the Patterns</a:t>
            </a:r>
            <a:endParaRPr lang="en-US" b="1" dirty="0">
              <a:effectLst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84860" y="1924527"/>
            <a:ext cx="999744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Loaded clean table into </a:t>
            </a:r>
            <a:r>
              <a:rPr kumimoji="0" lang="en-US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Weka</a:t>
            </a: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FP-Growth tool and </a:t>
            </a:r>
            <a:r>
              <a:rPr kumimoji="0" lang="en-US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Aprori</a:t>
            </a: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Settings: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Look for patterns in at least 2% of orders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Found 124 strong "buy together" rules </a:t>
            </a:r>
          </a:p>
        </p:txBody>
      </p:sp>
    </p:spTree>
    <p:extLst>
      <p:ext uri="{BB962C8B-B14F-4D97-AF65-F5344CB8AC3E}">
        <p14:creationId xmlns:p14="http://schemas.microsoft.com/office/powerpoint/2010/main" val="772903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WEKA RESULT FOR APRIORI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669" y="2160588"/>
            <a:ext cx="5068700" cy="3881437"/>
          </a:xfrm>
        </p:spPr>
      </p:pic>
    </p:spTree>
    <p:extLst>
      <p:ext uri="{BB962C8B-B14F-4D97-AF65-F5344CB8AC3E}">
        <p14:creationId xmlns:p14="http://schemas.microsoft.com/office/powerpoint/2010/main" val="3593717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WEKA OUTPUT – FP- Growth model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501" y="2160588"/>
            <a:ext cx="6857036" cy="3881437"/>
          </a:xfrm>
        </p:spPr>
      </p:pic>
    </p:spTree>
    <p:extLst>
      <p:ext uri="{BB962C8B-B14F-4D97-AF65-F5344CB8AC3E}">
        <p14:creationId xmlns:p14="http://schemas.microsoft.com/office/powerpoint/2010/main" val="3034529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180" y="45085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effectLst/>
              </a:rPr>
              <a:t>Top Discoveries</a:t>
            </a:r>
            <a:endParaRPr lang="en-US" sz="4800" b="1" dirty="0">
              <a:effectLst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0" y="1124427"/>
            <a:ext cx="21397033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Green Alarm Clock → Red Alarm Clock → 66% of people who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buy green also buy red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Lunch Bag Pink </a:t>
            </a:r>
            <a:r>
              <a:rPr kumimoji="0" lang="en-US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Polkadot</a:t>
            </a: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Black Skull → often add Cars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Blue &amp; Red </a:t>
            </a:r>
            <a:r>
              <a:rPr kumimoji="0" lang="en-US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Retrospot</a:t>
            </a: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Lift up to 8.9× (very strong!)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White Picture Frame → Antique White Frame → 54–58%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buy both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Christmas Paper Chain 50's → Vintage Christmas Chain </a:t>
            </a:r>
          </a:p>
        </p:txBody>
      </p:sp>
    </p:spTree>
    <p:extLst>
      <p:ext uri="{BB962C8B-B14F-4D97-AF65-F5344CB8AC3E}">
        <p14:creationId xmlns:p14="http://schemas.microsoft.com/office/powerpoint/2010/main" val="1951611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effectLst/>
              </a:rPr>
              <a:t>Real Meaning</a:t>
            </a:r>
            <a:endParaRPr lang="en-US" b="1" dirty="0">
              <a:effectLst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42900" y="1508964"/>
            <a:ext cx="18255295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66% who buy </a:t>
            </a: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green clock</a:t>
            </a: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also buy </a:t>
            </a: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 clock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(only 6% buy red normally)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62% who buy </a:t>
            </a: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Black Skull + Cars Blue lunch bags</a:t>
            </a: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also buy </a:t>
            </a: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Pink </a:t>
            </a:r>
            <a:r>
              <a:rPr kumimoji="0" lang="en-US" sz="3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Polkadot</a:t>
            </a: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(only 3–4% normally)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pairs are </a:t>
            </a: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8–10 times more likely</a:t>
            </a: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than random </a:t>
            </a:r>
          </a:p>
        </p:txBody>
      </p:sp>
    </p:spTree>
    <p:extLst>
      <p:ext uri="{BB962C8B-B14F-4D97-AF65-F5344CB8AC3E}">
        <p14:creationId xmlns:p14="http://schemas.microsoft.com/office/powerpoint/2010/main" val="714450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effectLst/>
              </a:rPr>
              <a:t>Ready-to-Sell Bundles</a:t>
            </a:r>
            <a:endParaRPr lang="en-US" sz="4800" b="1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200" b="1" dirty="0" smtClean="0">
                <a:effectLst/>
              </a:rPr>
              <a:t>4 bundles (big boxes or cards):</a:t>
            </a:r>
            <a:endParaRPr lang="en-US" sz="3200" dirty="0" smtClean="0">
              <a:effectLst/>
            </a:endParaRPr>
          </a:p>
          <a:p>
            <a:r>
              <a:rPr lang="en-US" sz="3200" b="1" dirty="0" smtClean="0"/>
              <a:t>Clock Color Pair</a:t>
            </a:r>
            <a:r>
              <a:rPr lang="en-US" sz="3200" dirty="0" smtClean="0"/>
              <a:t> Green + Red Alarm Clock Offer: 12–15% off</a:t>
            </a:r>
          </a:p>
          <a:p>
            <a:r>
              <a:rPr lang="en-US" sz="3200" b="1" dirty="0" smtClean="0"/>
              <a:t>Lunch Bag Mix Set</a:t>
            </a:r>
            <a:r>
              <a:rPr lang="en-US" sz="3200" dirty="0" smtClean="0"/>
              <a:t> Red </a:t>
            </a:r>
            <a:r>
              <a:rPr lang="en-US" sz="3200" dirty="0" err="1" smtClean="0"/>
              <a:t>Retrospot</a:t>
            </a:r>
            <a:r>
              <a:rPr lang="en-US" sz="3200" dirty="0" smtClean="0"/>
              <a:t> + Cars Blue + Black Skull + Pink </a:t>
            </a:r>
            <a:r>
              <a:rPr lang="en-US" sz="3200" dirty="0" err="1" smtClean="0"/>
              <a:t>Polkadot</a:t>
            </a:r>
            <a:r>
              <a:rPr lang="en-US" sz="3200" dirty="0" smtClean="0"/>
              <a:t> Offer: 15% off 4 pieces</a:t>
            </a:r>
          </a:p>
          <a:p>
            <a:r>
              <a:rPr lang="en-US" sz="3200" b="1" dirty="0" smtClean="0"/>
              <a:t>White Frame Set</a:t>
            </a:r>
            <a:r>
              <a:rPr lang="en-US" sz="3200" dirty="0" smtClean="0"/>
              <a:t> Antique White + White Finish Frame Offer: 10–12% off</a:t>
            </a:r>
          </a:p>
          <a:p>
            <a:r>
              <a:rPr lang="en-US" sz="3200" b="1" dirty="0" smtClean="0"/>
              <a:t>Christmas Chain Pair</a:t>
            </a:r>
            <a:r>
              <a:rPr lang="en-US" sz="3200" dirty="0" smtClean="0"/>
              <a:t> 50's + Vintage Paper Chain Offer: 10% off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75966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effectLst/>
              </a:rPr>
              <a:t>How Much Can We Gain?</a:t>
            </a:r>
            <a:endParaRPr lang="en-US" b="1" dirty="0">
              <a:effectLst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0" y="1198246"/>
            <a:ext cx="1070517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Clock pair: up to </a:t>
            </a: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+20–40%</a:t>
            </a: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more sales in clocks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Lunch bag set: up to </a:t>
            </a: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+25–50%</a:t>
            </a: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more lunch bags sold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10–25% higher average order value</a:t>
            </a: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these categories </a:t>
            </a:r>
          </a:p>
        </p:txBody>
      </p:sp>
    </p:spTree>
    <p:extLst>
      <p:ext uri="{BB962C8B-B14F-4D97-AF65-F5344CB8AC3E}">
        <p14:creationId xmlns:p14="http://schemas.microsoft.com/office/powerpoint/2010/main" val="1732718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1761</TotalTime>
  <Words>364</Words>
  <Application>Microsoft Office PowerPoint</Application>
  <PresentationFormat>Widescreen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Market Basket Analysis &amp; Product Bundling Recommendations </vt:lpstr>
      <vt:lpstr> Business Problem Why We Need This Analysis </vt:lpstr>
      <vt:lpstr>Simple Data Preparation</vt:lpstr>
      <vt:lpstr>How I Found the Patterns</vt:lpstr>
      <vt:lpstr>WEKA RESULT FOR APRIORI</vt:lpstr>
      <vt:lpstr>WEKA OUTPUT – FP- Growth model</vt:lpstr>
      <vt:lpstr>Top Discoveries</vt:lpstr>
      <vt:lpstr>Real Meaning</vt:lpstr>
      <vt:lpstr>Ready-to-Sell Bundles</vt:lpstr>
      <vt:lpstr>How Much Can We Gain?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Basket Analysis &amp; Product Bundling Recommendations</dc:title>
  <dc:creator>olawale arowojolu</dc:creator>
  <cp:lastModifiedBy>olawale arowojolu</cp:lastModifiedBy>
  <cp:revision>6</cp:revision>
  <dcterms:created xsi:type="dcterms:W3CDTF">2026-02-13T17:34:19Z</dcterms:created>
  <dcterms:modified xsi:type="dcterms:W3CDTF">2026-02-14T22:55:45Z</dcterms:modified>
</cp:coreProperties>
</file>